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4717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4287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673786"/>
            <a:ext cx="5715000" cy="502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300" b="1" dirty="0">
                <a:solidFill>
                  <a:srgbClr val="2A4365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SMS Spam Detection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571500" y="2419583"/>
            <a:ext cx="5845234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Naive Bayes Approach with TF-IDF Vectorization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742950" y="3039303"/>
            <a:ext cx="1312664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kern="0" spc="1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PREPARED BY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42950" y="3233970"/>
            <a:ext cx="1312664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2A43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khadijah hzayen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2655689" y="3039303"/>
            <a:ext cx="98048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kern="0" spc="1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SUPERVISED BY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2655689" y="3233970"/>
            <a:ext cx="98048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2A43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Dr. Samar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485775"/>
            <a:ext cx="2764631" cy="542925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A4365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Dataset Overview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628650" y="1628775"/>
            <a:ext cx="3571875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A43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&amp; Size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28650" y="1846659"/>
            <a:ext cx="382391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</a:t>
            </a: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Downloaded from </a:t>
            </a:r>
            <a:r>
              <a:rPr lang="en-US" sz="900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Kaggle</a:t>
            </a: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(SMS Spam Collection).
</a:t>
            </a:r>
            <a:r>
              <a:rPr lang="en-US" sz="900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Size:</a:t>
            </a: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Contains 5,574 real-world text messages.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28650" y="2429545"/>
            <a:ext cx="3571875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A43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Classes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28650" y="2647429"/>
            <a:ext cx="357187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Messages are classified into Ham (Normal messages ) and Spam (Unwanted).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28650" y="3273177"/>
            <a:ext cx="3571875" cy="550069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imbalanced dataset :
Ham: ~86.6% (4,825 messages)
Spam: ~13.4% (747 messages)
accurately reflecting real-world scenarios.</a:t>
            </a:r>
            <a:endParaRPr lang="en-US" sz="8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3463" y="1600200"/>
            <a:ext cx="2857500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5436394" cy="542925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A4365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Data Preprocessing: Text Cleaning</a:t>
            </a:r>
            <a:endParaRPr lang="en-US" sz="2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063" y="1403747"/>
            <a:ext cx="257175" cy="3429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77063" y="1871663"/>
            <a:ext cx="2041327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A4365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Handling Encoding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277063" y="2260997"/>
            <a:ext cx="2647931" cy="2631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Used </a:t>
            </a:r>
            <a:r>
              <a:rPr lang="en-US" sz="950" dirty="0">
                <a:solidFill>
                  <a:srgbClr val="2A436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encoding='latin-1'</a:t>
            </a: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correctly process special symbols (£) and avoid system crashes.</a:t>
            </a:r>
            <a:endParaRPr lang="en-US" sz="9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8006" y="1403747"/>
            <a:ext cx="300038" cy="3429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248006" y="1871663"/>
            <a:ext cx="1164431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A4365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Lowercasing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3248006" y="2223492"/>
            <a:ext cx="264795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Converted all text to lowercase to ensure consistency (e.g., "Free" vs "free").</a:t>
            </a:r>
            <a:endParaRPr lang="en-US" sz="9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7416" y="1403747"/>
            <a:ext cx="342900" cy="3429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067416" y="1871663"/>
            <a:ext cx="1977033" cy="266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A4365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Punctuation Removal</a:t>
            </a:r>
            <a:endParaRPr lang="en-US" sz="1400" dirty="0"/>
          </a:p>
        </p:txBody>
      </p:sp>
      <p:sp>
        <p:nvSpPr>
          <p:cNvPr id="12" name="Text 6"/>
          <p:cNvSpPr/>
          <p:nvPr/>
        </p:nvSpPr>
        <p:spPr>
          <a:xfrm>
            <a:off x="6067416" y="2223492"/>
            <a:ext cx="264793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Stripped out unnecessary punctuation and symbols to isolate core semantic tokens.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6211491" cy="542925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A4365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Data Preprocessing: Feature Extraction</a:t>
            </a:r>
            <a:endParaRPr lang="en-US" sz="2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433215"/>
            <a:ext cx="250031" cy="2000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28688" y="1400175"/>
            <a:ext cx="2035969" cy="266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A4365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Linguistic Refinement</a:t>
            </a:r>
            <a:endParaRPr lang="en-US" sz="14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873448"/>
            <a:ext cx="114300" cy="1143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71525" y="1837730"/>
            <a:ext cx="358616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2A43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Tokenization:</a:t>
            </a: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Splitting messages into individual words or tokens.</a:t>
            </a:r>
            <a:endParaRPr lang="en-US" sz="9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402086"/>
            <a:ext cx="114300" cy="11430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771525" y="2366367"/>
            <a:ext cx="358616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2A43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Stop Words Removal:</a:t>
            </a: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Filtering out common words (e.g., "the", "is") that lack predictive value.</a:t>
            </a:r>
            <a:endParaRPr lang="en-US" sz="9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930723"/>
            <a:ext cx="114300" cy="11430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771525" y="2895005"/>
            <a:ext cx="358616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2A43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Lemmatization:</a:t>
            </a: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Reducing words to their dictionary base form (Lemma).</a:t>
            </a:r>
            <a:endParaRPr lang="en-US" sz="9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6313" y="1433215"/>
            <a:ext cx="150019" cy="200025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5043488" y="1400175"/>
            <a:ext cx="1946672" cy="266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A4365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TF-IDF Vectorization</a:t>
            </a:r>
            <a:endParaRPr lang="en-US" sz="1400" dirty="0"/>
          </a:p>
        </p:txBody>
      </p:sp>
      <p:sp>
        <p:nvSpPr>
          <p:cNvPr id="14" name="Text 6"/>
          <p:cNvSpPr/>
          <p:nvPr/>
        </p:nvSpPr>
        <p:spPr>
          <a:xfrm>
            <a:off x="4786313" y="1837730"/>
            <a:ext cx="378618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Converting text into numeric weights based on word importance across the corpus.</a:t>
            </a:r>
            <a:endParaRPr lang="en-US" sz="950" dirty="0"/>
          </a:p>
        </p:txBody>
      </p:sp>
      <p:sp>
        <p:nvSpPr>
          <p:cNvPr id="15" name="Shape 7"/>
          <p:cNvSpPr/>
          <p:nvPr/>
        </p:nvSpPr>
        <p:spPr>
          <a:xfrm>
            <a:off x="4786313" y="2294930"/>
            <a:ext cx="3786188" cy="106084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8"/>
          <p:cNvSpPr/>
          <p:nvPr/>
        </p:nvSpPr>
        <p:spPr>
          <a:xfrm>
            <a:off x="4786313" y="2294930"/>
            <a:ext cx="28575" cy="1060847"/>
          </a:xfrm>
          <a:prstGeom prst="rect">
            <a:avLst/>
          </a:prstGeom>
          <a:solidFill>
            <a:srgbClr val="4299E1"/>
          </a:solidFill>
          <a:ln/>
        </p:spPr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9188" y="2473523"/>
            <a:ext cx="114300" cy="11430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5129213" y="2437805"/>
            <a:ext cx="3300413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2A43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Selection:</a:t>
            </a: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Extracted the top </a:t>
            </a:r>
            <a:r>
              <a:rPr lang="en-US" sz="950" dirty="0">
                <a:solidFill>
                  <a:srgbClr val="2A436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5,000</a:t>
            </a: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features using </a:t>
            </a:r>
            <a:r>
              <a:rPr lang="en-US" sz="950" dirty="0">
                <a:solidFill>
                  <a:srgbClr val="2A436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max_features=5000</a:t>
            </a: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50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9188" y="3005733"/>
            <a:ext cx="114300" cy="114300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5129213" y="2970014"/>
            <a:ext cx="330041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2A43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Weighting:</a:t>
            </a: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Assigns higher importance to words that are frequent in a document but rare in the dataset.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4371975" cy="542925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A4365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Model Selection &amp; Training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400175"/>
            <a:ext cx="3714750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A4365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Training Process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71500" y="1875234"/>
            <a:ext cx="37147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299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Splitting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71500" y="2105620"/>
            <a:ext cx="37147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Divided dataset into </a:t>
            </a:r>
            <a:r>
              <a:rPr lang="en-US" sz="950" dirty="0">
                <a:solidFill>
                  <a:srgbClr val="2D374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80% Training</a:t>
            </a: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r>
              <a:rPr lang="en-US" sz="950" dirty="0">
                <a:solidFill>
                  <a:srgbClr val="2D374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20% Testing</a:t>
            </a: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sets using </a:t>
            </a:r>
            <a:r>
              <a:rPr lang="en-US" sz="950" dirty="0">
                <a:solidFill>
                  <a:srgbClr val="2D374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random_state=42</a:t>
            </a: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71500" y="2745656"/>
            <a:ext cx="37147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299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Algorithm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71500" y="2976042"/>
            <a:ext cx="371475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Implemented </a:t>
            </a:r>
            <a:r>
              <a:rPr lang="en-US" sz="950" dirty="0">
                <a:solidFill>
                  <a:srgbClr val="2D374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Multinomial Naive Bayes </a:t>
            </a: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(MultinomialNB)</a:t>
            </a: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 probabilistic learning method ideal for discrete features like word counts.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857750" y="1400175"/>
            <a:ext cx="3714750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A4365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Why Naive Bayes?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857750" y="1875234"/>
            <a:ext cx="3714750" cy="23574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4857750" y="1875234"/>
            <a:ext cx="42863" cy="2357438"/>
          </a:xfrm>
          <a:prstGeom prst="rect">
            <a:avLst/>
          </a:prstGeom>
          <a:solidFill>
            <a:srgbClr val="4299E1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2063" y="2125266"/>
            <a:ext cx="85725" cy="37571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64944" y="2089547"/>
            <a:ext cx="3093244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Extremely fast and lightweight, making it suitable for real-time SMS filtering.</a:t>
            </a:r>
            <a:endParaRPr lang="en-US" sz="9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2063" y="2796019"/>
            <a:ext cx="85725" cy="37571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264944" y="2816736"/>
            <a:ext cx="3093244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 effectively based on word frequencies and probability calculations.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8575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4757738" cy="542925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A4365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Model Performance &amp; Results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742950" y="1400175"/>
            <a:ext cx="3614738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A43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Overall Accuracy: 97% - 98%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42950" y="1664494"/>
            <a:ext cx="361473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Exceptional performance in distinguishing between ham messages and spam.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742950" y="2278856"/>
            <a:ext cx="3614738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A43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Macro vs. Weighted Average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42950" y="2543175"/>
            <a:ext cx="3614738" cy="16219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Macro Avg treats classes equally (critical for spam), while Weighted Avg </a:t>
            </a:r>
            <a:r>
              <a:rPr lang="en-US" sz="900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Reflects the performance adjusted by the actual size of each class.</a:t>
            </a:r>
            <a:endParaRPr lang="ar-JO" sz="950" dirty="0">
              <a:solidFill>
                <a:srgbClr val="4A5568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>
              <a:lnSpc>
                <a:spcPct val="120000"/>
              </a:lnSpc>
            </a:pPr>
            <a:endParaRPr lang="ar-JO" sz="1000" b="1" dirty="0"/>
          </a:p>
          <a:p>
            <a:pPr>
              <a:lnSpc>
                <a:spcPct val="120000"/>
              </a:lnSpc>
            </a:pPr>
            <a:r>
              <a:rPr lang="en-GB" sz="1000" b="1" dirty="0"/>
              <a:t>Ham Class Metrics:</a:t>
            </a:r>
            <a:r>
              <a:rPr lang="en-GB" sz="1000" dirty="0"/>
              <a:t> Achieved ~</a:t>
            </a:r>
            <a:r>
              <a:rPr lang="en-GB" sz="1000" b="1" dirty="0"/>
              <a:t>98%</a:t>
            </a:r>
            <a:r>
              <a:rPr lang="en-GB" sz="1000" dirty="0"/>
              <a:t> Precision and ~</a:t>
            </a:r>
            <a:r>
              <a:rPr lang="en-GB" sz="1000" b="1" dirty="0"/>
              <a:t>99%</a:t>
            </a:r>
            <a:r>
              <a:rPr lang="en-GB" sz="1000" dirty="0"/>
              <a:t> Recall, ensuring legitimate messages are perfectly safe.</a:t>
            </a:r>
            <a:endParaRPr lang="ar-JO" sz="1000" dirty="0"/>
          </a:p>
          <a:p>
            <a:pPr>
              <a:lnSpc>
                <a:spcPct val="120000"/>
              </a:lnSpc>
            </a:pPr>
            <a:r>
              <a:rPr lang="en-GB" sz="1000" b="1" dirty="0"/>
              <a:t>Spam Class Metrics:</a:t>
            </a:r>
            <a:r>
              <a:rPr lang="en-GB" sz="1000" dirty="0"/>
              <a:t> Achieved ~</a:t>
            </a:r>
            <a:r>
              <a:rPr lang="en-GB" sz="1000" b="1" dirty="0"/>
              <a:t>96%</a:t>
            </a:r>
            <a:r>
              <a:rPr lang="en-GB" sz="1000" dirty="0"/>
              <a:t> Precision and ~</a:t>
            </a:r>
            <a:r>
              <a:rPr lang="en-GB" sz="1000" b="1" dirty="0"/>
              <a:t>95%</a:t>
            </a:r>
            <a:r>
              <a:rPr lang="en-GB" sz="1000" dirty="0"/>
              <a:t> Recall, showing excellent capability in catching spam without missing important texts.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422230" y="3853811"/>
            <a:ext cx="3614738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A43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Confusion Matrix Analysis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734050" y="4067704"/>
            <a:ext cx="361473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Heatmap visualization confirmed minimal false positives and false negatives.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5250656" y="4071938"/>
            <a:ext cx="2857500" cy="130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endParaRPr lang="en-US" sz="8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46D4A26-34C7-D5BA-5FBF-F95B586998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0656" y="940757"/>
            <a:ext cx="3434507" cy="295731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2739628" cy="542925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A4365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Challenges Faced</a:t>
            </a:r>
            <a:endParaRPr lang="en-US" sz="2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743075"/>
            <a:ext cx="285750" cy="228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00125" y="1685925"/>
            <a:ext cx="5286375" cy="266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A4365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Data Imbalance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1000125" y="2009180"/>
            <a:ext cx="5286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majority of data was ham, making it a challenge to train the model to catch spam accurately without bias.</a:t>
            </a:r>
            <a:endParaRPr lang="en-US" sz="10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959298"/>
            <a:ext cx="228600" cy="2286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00125" y="2902148"/>
            <a:ext cx="5286375" cy="266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A4365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Encoding Issues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1000125" y="3225403"/>
            <a:ext cx="5286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Faced initial crashes due to unique symbols in SMS text, resolved by shifting to latin-1 encoding.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175522"/>
            <a:ext cx="285750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00125" y="4118372"/>
            <a:ext cx="5286375" cy="266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A4365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Text Noise</a:t>
            </a:r>
            <a:endParaRPr lang="en-US" sz="1400" dirty="0"/>
          </a:p>
        </p:txBody>
      </p:sp>
      <p:sp>
        <p:nvSpPr>
          <p:cNvPr id="12" name="Text 6"/>
          <p:cNvSpPr/>
          <p:nvPr/>
        </p:nvSpPr>
        <p:spPr>
          <a:xfrm>
            <a:off x="1000125" y="4441627"/>
            <a:ext cx="5286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People write SMS messages using informal words and shortcuts and spelling mistakes, making the text very noisy and harder for the model to understand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1798439" cy="542925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A4365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Conclusion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614488"/>
            <a:ext cx="4480917" cy="1739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Combining TF-IDF features with Naive Bayes provides a robust, fast, and highly efficient solution for real-time spam filtering, achieving near-perfect accuracy on the SMS dataset.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0" y="4036219"/>
            <a:ext cx="9144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A4365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Thank You!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0" y="4507706"/>
            <a:ext cx="914400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4299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 Questions?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552</Words>
  <Application>Microsoft Office PowerPoint</Application>
  <PresentationFormat>On-screen Show (16:9)</PresentationFormat>
  <Paragraphs>66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Playfair Display Bold</vt:lpstr>
      <vt:lpstr>Arial</vt:lpstr>
      <vt:lpstr>Inter</vt:lpstr>
      <vt:lpstr>monospace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خديجه اسامة محمد حزين</cp:lastModifiedBy>
  <cp:revision>6</cp:revision>
  <dcterms:created xsi:type="dcterms:W3CDTF">2026-05-31T03:35:44Z</dcterms:created>
  <dcterms:modified xsi:type="dcterms:W3CDTF">2026-05-31T16:55:05Z</dcterms:modified>
</cp:coreProperties>
</file>